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731520" y="777240"/>
            <a:ext cx="1072591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8680" y="9144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48272" y="9144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DATE. 2026. 10.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98848" y="1874519"/>
            <a:ext cx="3200400" cy="310896"/>
          </a:xfrm>
          <a:prstGeom prst="roundRect">
            <a:avLst>
              <a:gd name="adj" fmla="val 5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98848" y="1915667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미니프로젝트2 · 머신러닝 서비스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107259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공개 경제·해운 지표로 3개월 앞을 내다보는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50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선종별 선박 수주 예측 서비스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60520"/>
            <a:ext cx="10725912" cy="2653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선종 · 예측 기준월 → </a:t>
            </a:r>
            <a:r>
              <a:rPr lang="en-US" sz="150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3</a:t>
            </a:r>
            <a:r>
              <a:rPr sz="15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개월 수주용량 · 분기/반기 누적 · 근거 변수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257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3조 선(船)견지명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52578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2026. 10. 01 – 10.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525780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김민규 · 김미성 · 오희진 · 김가은 · 김정훈 · 최현서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22191" y="5212080"/>
            <a:ext cx="0" cy="365760"/>
          </a:xfrm>
          <a:prstGeom prst="line">
            <a:avLst/>
          </a:prstGeom>
          <a:ln w="12700">
            <a:solidFill>
              <a:srgbClr val="296E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473952" y="5212080"/>
            <a:ext cx="0" cy="365760"/>
          </a:xfrm>
          <a:prstGeom prst="line">
            <a:avLst/>
          </a:prstGeom>
          <a:ln w="12700">
            <a:solidFill>
              <a:srgbClr val="296E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30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목 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4206240" cy="9932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이 프로젝트는 한 문장으로</a:t>
            </a:r>
          </a:p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공개 지표만으로 선종별 신규 예측하고, </a:t>
            </a:r>
            <a:endParaRPr lang="en-US" sz="1700" b="0">
              <a:solidFill>
                <a:srgbClr val="111214"/>
              </a:solidFill>
              <a:latin typeface="Pretendard Medium"/>
              <a:ea typeface="Pretendard Medium"/>
              <a:cs typeface="Pretendard Medium"/>
            </a:endParaRPr>
          </a:p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그 근거를 보여 주는 서비스입니다.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429000"/>
            <a:ext cx="4206240" cy="251460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3611880"/>
            <a:ext cx="3749039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심사 기준 대응</a:t>
            </a:r>
          </a:p>
          <a:p>
            <a:pPr algn="l" eaLnBrk="0" hangingPunct="0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기획서 필수 7항목을 목차 01–07에 그대로 대응시켰습니다.</a:t>
            </a:r>
          </a:p>
          <a:p>
            <a:pPr algn="l" eaLnBrk="0" hangingPunct="0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각 장의 첫 문장이 그 장의 결론입니다.</a:t>
            </a:r>
          </a:p>
          <a:p>
            <a:pPr algn="l" eaLnBrk="0" hangingPunct="0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모든 수치는 팀 저장소의 검증 결과이며, 기준선을 넘지 못한 결과도 그대로 적었습니다.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96012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2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978408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033272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명칭 · 기간 · 팀 · 핵심 과제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80" y="1527048"/>
            <a:ext cx="5989320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69280" y="169164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2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09928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기획 배경 및 필요성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764792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필요성 N1–N5 · 차별점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0" y="2258568"/>
            <a:ext cx="5989320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0" y="242316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2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441448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데이터 계획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496312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출처 · 목표변수 · 시차 규칙 · 전처리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0" y="2990088"/>
            <a:ext cx="5989320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0" y="315468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2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172968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주요 기능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227832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입력 → 예측 → 화면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80" y="3721608"/>
            <a:ext cx="5989320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0" y="388620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2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904487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서비스 개발 계획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959352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검증 설계 · 성능 · 구조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0" y="4453128"/>
            <a:ext cx="5989320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669280" y="461772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2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36007"/>
            <a:ext cx="3291840" cy="3007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70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개발</a:t>
            </a:r>
            <a:r>
              <a:rPr lang="en-US" sz="17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7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계획</a:t>
            </a:r>
            <a:endParaRPr sz="1700" b="0">
              <a:solidFill>
                <a:srgbClr val="111214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144000" y="4690872"/>
            <a:ext cx="2514600" cy="2034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일정 · 역할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80" y="5184648"/>
            <a:ext cx="5989320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669280" y="534924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2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5367528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기대 효과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5422392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기대효과 E1–E5 · 한계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669280" y="5916168"/>
            <a:ext cx="5989320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144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프로젝트 개요  </a:t>
            </a: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무엇을 만드는가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선종 5종의 월별 신규 수주용량을, 예측 시점에 이미 공표된 경제·해운 지표만으로 3개월 앞서 예측합니다.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03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336498"/>
              </p:ext>
            </p:extLst>
          </p:nvPr>
        </p:nvGraphicFramePr>
        <p:xfrm>
          <a:off x="548640" y="2148840"/>
          <a:ext cx="6949439" cy="3215513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항목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내용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프로젝트명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선종별 선박 수주 예측 서비스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기간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2026. 10. 01 – 10. 16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팀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3조 선(船)견지명 </a:t>
                      </a:r>
                      <a:r>
                        <a:rPr sz="12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 6명 — 선견지명(先見之明)의 先을 배 船으로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대상 선종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벌크선(DWT) · 컨테이너선(TEU) · 유조선(DWT) · 가스운반선(CBM) · 케미컬 탱커(DWT)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핵심 ML 과제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월별 신규 수주용량 회귀 — 6개월 앞, 분기·반기 누적으로 평가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최종 결과물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선종별 예측 화면 · 변수 계층 시각화 · 재현 가능한 파이프라인</a:t>
                      </a:r>
                      <a:r>
                        <a:rPr lang="ko-KR" altLang="en-US" sz="12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lang="en-US" altLang="ko-KR" sz="12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 </a:t>
                      </a:r>
                      <a:r>
                        <a:rPr lang="ko-KR" altLang="en-US" sz="12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호출  </a:t>
                      </a:r>
                      <a:r>
                        <a:rPr lang="en-US" altLang="ko-KR" sz="12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API</a:t>
                      </a:r>
                      <a:endParaRPr sz="1200" b="0">
                        <a:solidFill>
                          <a:srgbClr val="11121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863840" y="2148840"/>
            <a:ext cx="3776472" cy="3886200"/>
          </a:xfrm>
          <a:prstGeom prst="roundRect">
            <a:avLst>
              <a:gd name="adj" fmla="val 4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92440" y="233172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주요 목표</a:t>
            </a:r>
          </a:p>
        </p:txBody>
      </p:sp>
      <p:sp>
        <p:nvSpPr>
          <p:cNvPr id="13" name="Oval 12"/>
          <p:cNvSpPr/>
          <p:nvPr/>
        </p:nvSpPr>
        <p:spPr>
          <a:xfrm>
            <a:off x="8092440" y="2743200"/>
            <a:ext cx="384048" cy="384048"/>
          </a:xfrm>
          <a:prstGeom prst="ellipse">
            <a:avLst/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92440" y="2807208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13648" y="2724912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그때 알 수 있던 정보만 사용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13648" y="3054096"/>
            <a:ext cx="2880360" cy="2034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공표 시차 </a:t>
            </a:r>
            <a:r>
              <a:rPr lang="en-US"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6</a:t>
            </a: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개월 규칙, 미래 정보 누수 0</a:t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794760"/>
            <a:ext cx="384048" cy="384048"/>
          </a:xfrm>
          <a:prstGeom prst="ellipse">
            <a:avLst/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92440" y="3858768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3648" y="3776472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기준선 대비 개선을 수치로 증명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4105656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최근 3개월 평균 · 2개월 전 값과 비교</a:t>
            </a:r>
          </a:p>
        </p:txBody>
      </p:sp>
      <p:sp>
        <p:nvSpPr>
          <p:cNvPr id="21" name="Oval 20"/>
          <p:cNvSpPr/>
          <p:nvPr/>
        </p:nvSpPr>
        <p:spPr>
          <a:xfrm>
            <a:off x="8092440" y="4846320"/>
            <a:ext cx="384048" cy="384048"/>
          </a:xfrm>
          <a:prstGeom prst="ellipse">
            <a:avLst/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92440" y="4910328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3648" y="4828032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왜 그렇게 예측했는지 설명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13648" y="5157216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선종별 핵심 변수를 계층 구조로 시각화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144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기획 배경 및 필요성  </a:t>
            </a: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왜 필요한가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조선소는 분기·반기 단위로 계획하지만, 선종마다 다른 시장의 수주를 월 단위로 출렁이는 숫자로 가늠해야 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04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98448" y="1901952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필요성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901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근거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67712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253752"/>
            <a:ext cx="566928" cy="3562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N1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2212848"/>
            <a:ext cx="5120640" cy="256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50" b="1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분기 단위 예측이 필요하다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2523744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도크·인력·자재 계획은 분기·반기로 세우지만,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월 수주는 대형 발주 피크로 크게 흔들립니다.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2212848"/>
            <a:ext cx="5010912" cy="658368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12280" y="2267712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0.95 – 1.16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286000"/>
            <a:ext cx="26517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선종별 월 수주 변동계수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평균만큼 출렁임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2926079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48640" y="3054096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040136"/>
            <a:ext cx="566928" cy="3562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N2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2999232"/>
            <a:ext cx="5120640" cy="256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50" b="1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선종별로 따로 봐야 한다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3310127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단위(DWT·TEU·CBM)가 다르고,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수주를 움직이는 요인도 선종마다 다릅니다.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9400" y="2999232"/>
            <a:ext cx="5010912" cy="658368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12280" y="3054096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5개 선종 · 3개 단위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3072384"/>
            <a:ext cx="26517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컨테이너 운임·물동량 · 가스 에너지 가격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유조 발주 흐름 (상관·군집 분석)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3712463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48640" y="3840479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3826520"/>
            <a:ext cx="566928" cy="3562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N3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8448" y="3785615"/>
            <a:ext cx="5120640" cy="256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50" b="1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그때 알 수 있던 정보로 예측해야 한다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8448" y="4096511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수주 실적은 늦게 공표되고 지표마다 공표 시점이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달라, 미래 정보가 섞이기 쉽습니다.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29400" y="3785615"/>
            <a:ext cx="5010912" cy="658368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12280" y="3840479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2 – 3개월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3858768"/>
            <a:ext cx="26517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수주 실적 공표 지연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게시일을 확인해야 쓸 수 있음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4988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48640" y="4626864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4612904"/>
            <a:ext cx="566928" cy="3562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N4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8448" y="4572000"/>
            <a:ext cx="5120640" cy="256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50" b="1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한 번의 대형 계약을 감안해야 한다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98448" y="4882896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단일 계약이 한 해의 수주를 좌우하고,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오르는 시장은 낮게 보기 쉽습니다.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29400" y="4572000"/>
            <a:ext cx="5010912" cy="658368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812280" y="4626864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× 5.8 – 13.5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5400" y="4645152"/>
            <a:ext cx="2651760" cy="3440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가장 큰 달 ÷ 중앙 달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2024-04 LNG선 단일 계약 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48640" y="5285232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548640" y="5413248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8640" y="5399288"/>
            <a:ext cx="566928" cy="3562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N5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98448" y="5358384"/>
            <a:ext cx="5120640" cy="256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450" b="1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기존 전망과 다른</a:t>
            </a:r>
            <a:r>
              <a:rPr sz="1450" b="1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 기준이 필요하다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98448" y="5669280"/>
            <a:ext cx="5120640" cy="3311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eaLnBrk="0" hangingPunct="0">
              <a:lnSpc>
                <a:spcPct val="105000"/>
              </a:lnSpc>
              <a:spcAft>
                <a:spcPts val="100"/>
              </a:spcAft>
            </a:pPr>
            <a:r>
              <a:rPr lang="ko-KR" altLang="ko-KR" sz="1050">
                <a:solidFill>
                  <a:srgbClr val="4C525A"/>
                </a:solidFill>
                <a:latin typeface="Pretendard"/>
              </a:rPr>
              <a:t>기존 발주 전망은 연·분기 단위 시장 총량 중심으로 제공되며,</a:t>
            </a:r>
            <a:br>
              <a:rPr lang="ko-KR" altLang="ko-KR" sz="1050">
                <a:solidFill>
                  <a:srgbClr val="4C525A"/>
                </a:solidFill>
                <a:latin typeface="Pretendard"/>
              </a:rPr>
            </a:br>
            <a:r>
              <a:rPr lang="ko-KR" altLang="ko-KR" sz="1050">
                <a:solidFill>
                  <a:srgbClr val="4C525A"/>
                </a:solidFill>
                <a:latin typeface="Pretendard"/>
              </a:rPr>
              <a:t>월별·선종별 예측 결과를 검증하기 어렵습니다.</a:t>
            </a:r>
            <a:endParaRPr sz="1050">
              <a:solidFill>
                <a:srgbClr val="4C525A"/>
              </a:solidFill>
              <a:latin typeface="Pretendard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629400" y="5358384"/>
            <a:ext cx="5010912" cy="658368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812280" y="5413248"/>
            <a:ext cx="2103120" cy="3007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ko-KR" sz="1700">
                <a:solidFill>
                  <a:srgbClr val="024AD8"/>
                </a:solidFill>
                <a:latin typeface="Pretendard SemiBold"/>
              </a:rPr>
              <a:t>연·분기 → 월별</a:t>
            </a:r>
            <a:endParaRPr sz="1700">
              <a:solidFill>
                <a:srgbClr val="024AD8"/>
              </a:solidFill>
              <a:latin typeface="Pretendard SemiBold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915400" y="5431536"/>
            <a:ext cx="26517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Clarksons SIN · VesselsValue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KMI 해운시장 종합정보망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48640" y="6071616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144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기획 배경 및 필요성  </a:t>
            </a: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무엇이 다른가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eaLnBrk="0" hangingPunct="0">
              <a:lnSpc>
                <a:spcPct val="100000"/>
              </a:lnSpc>
              <a:spcAft>
                <a:spcPts val="400"/>
              </a:spcAft>
            </a:pPr>
            <a:r>
              <a:rPr lang="ko-KR" altLang="ko-KR" sz="1400"/>
              <a:t>기존 발주 전망은 연·분기 단위의 시장 총량 중심으로 제공되지만, 본 서비스는 공개 자료만으로 월별·선종별 수주를 예측하고 주요 영향 변수를 함께 제시합니다.</a:t>
            </a:r>
            <a:endParaRPr sz="1400">
              <a:solidFill>
                <a:srgbClr val="4C525A"/>
              </a:solidFill>
              <a:latin typeface="Pretendard Medium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05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673113"/>
              </p:ext>
            </p:extLst>
          </p:nvPr>
        </p:nvGraphicFramePr>
        <p:xfrm>
          <a:off x="548640" y="2103120"/>
          <a:ext cx="6766560" cy="329184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구분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기존 서비스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1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본 서비스</a:t>
                      </a:r>
                      <a:endParaRPr sz="1100" b="0">
                        <a:solidFill>
                          <a:srgbClr val="FFFFFF"/>
                        </a:solidFill>
                        <a:latin typeface="Pretendard SemiBold"/>
                        <a:ea typeface="Pretendard SemiBold"/>
                        <a:cs typeface="Pretendard SemiBold"/>
                      </a:endParaRP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대표 사례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Clarksons SIN · VesselsValue · KMI 해운시장 종합정보망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공개 지표 기반 선종별 수주 예측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데이터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유료 상용 DB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세계은행 · UNCTAD · FRED · MPA 등 공개 자료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제공 내용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00000"/>
                        </a:lnSpc>
                      </a:pPr>
                      <a:r>
                        <a:rPr lang="ko-KR" altLang="ko-KR" sz="1100"/>
                        <a:t>연·분기 단위 시장 발주 전망</a:t>
                      </a:r>
                      <a:endParaRPr sz="1100" b="0">
                        <a:solidFill>
                          <a:srgbClr val="11121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00000"/>
                        </a:lnSpc>
                      </a:pPr>
                      <a:r>
                        <a:rPr lang="en-US"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3</a:t>
                      </a: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개월 </a:t>
                      </a:r>
                      <a:r>
                        <a:rPr lang="ko-KR" altLang="en-US"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뒤 </a:t>
                      </a:r>
                      <a:r>
                        <a:rPr lang="ko-KR" altLang="ko-KR" sz="1100"/>
                        <a:t>월별·선종별 수주 예측</a:t>
                      </a:r>
                      <a:endParaRPr sz="1100" b="0">
                        <a:solidFill>
                          <a:srgbClr val="11121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근거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00000"/>
                        </a:lnSpc>
                      </a:pPr>
                      <a:r>
                        <a:rPr lang="ko-KR" altLang="ko-KR" sz="1100"/>
                        <a:t>전문가 해설 및 시장 전망</a:t>
                      </a:r>
                      <a:endParaRPr sz="1100" b="0">
                        <a:solidFill>
                          <a:srgbClr val="11121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00000"/>
                        </a:lnSpc>
                      </a:pPr>
                      <a:r>
                        <a:rPr lang="ko-KR" altLang="ko-KR" sz="1100"/>
                        <a:t>주요 영향 변수와 변수 중요도 제시</a:t>
                      </a:r>
                      <a:endParaRPr sz="1100" b="0">
                        <a:solidFill>
                          <a:srgbClr val="11121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시점 관리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00000"/>
                        </a:lnSpc>
                      </a:pPr>
                      <a:r>
                        <a:rPr lang="ko-KR" altLang="ko-KR" sz="1100"/>
                        <a:t>과거 예측 오차 공개 여부 확인 어려움</a:t>
                      </a:r>
                      <a:endParaRPr sz="1100" b="0">
                        <a:solidFill>
                          <a:srgbClr val="11121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00000"/>
                        </a:lnSpc>
                      </a:pPr>
                      <a:r>
                        <a:rPr lang="ko-KR" altLang="ko-KR" sz="1100"/>
                        <a:t>Walk-forward 검증 및 과거 오차 공개</a:t>
                      </a:r>
                      <a:endParaRPr sz="1100" b="0">
                        <a:solidFill>
                          <a:srgbClr val="11121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577840"/>
            <a:ext cx="6766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8A9098"/>
                </a:solidFill>
                <a:latin typeface="Pretendard"/>
                <a:ea typeface="Pretendard"/>
                <a:cs typeface="Pretendard"/>
              </a:rPr>
              <a:t>사례 근거: Drive case_study (KMI 2020 시계열 해운시장 예측, KMI AI 컨테이너운임 예측, HD한국조선해양 디지털 전환 2024, Veson VesselsValue)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103120"/>
            <a:ext cx="4050791" cy="4023360"/>
          </a:xfrm>
          <a:prstGeom prst="roundRect">
            <a:avLst>
              <a:gd name="adj" fmla="val 4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18120" y="22860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주제를 이렇게 정한 이유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697480"/>
            <a:ext cx="3657600" cy="15399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30000"/>
              </a:lnSpc>
              <a:spcAft>
                <a:spcPts val="700"/>
              </a:spcAft>
            </a:pPr>
            <a:r>
              <a:rPr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훈련 연관성: 조선소 DT 과정 — 수주는 조선소 생산 계획의 출발점</a:t>
            </a:r>
          </a:p>
          <a:p>
            <a:pPr algn="l" eaLnBrk="0" hangingPunct="0">
              <a:lnSpc>
                <a:spcPct val="130000"/>
              </a:lnSpc>
              <a:spcAft>
                <a:spcPts val="700"/>
              </a:spcAft>
            </a:pPr>
            <a:r>
              <a:rPr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실현 가능성: 2015년부터 월별 공개 자료 확보, 선종별 마스터 테이블 141개월 완성</a:t>
            </a:r>
          </a:p>
          <a:p>
            <a:pPr algn="l" eaLnBrk="0" hangingPunct="0">
              <a:lnSpc>
                <a:spcPct val="130000"/>
              </a:lnSpc>
              <a:spcAft>
                <a:spcPts val="700"/>
              </a:spcAft>
            </a:pPr>
            <a:r>
              <a:rPr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문헌 근거: Wada(2018·2022), Han(2024), Sakalayen(2021) 등 수주·발주 예측 연구 10편 검토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144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데이터 계획  </a:t>
            </a: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어떤 데이터를 쓰는가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목표변수 1종과 설명변수 후보 60개를 모두 공개 자료로 확보했고, 출처·주기·공표 시차를 변수 사전에 기록했습니다.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06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011680"/>
          <a:ext cx="11091672" cy="3867912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구분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데이터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제공기관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기간 · 주기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쓰임 (선종)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목표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선종별 신규 수주 척수 · 용량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eworldship 월간 신조선시장 (Clarksons 인용)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2015-01 – 2026-08 · 월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수주용량 DWT · TEU · CBM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가격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원자재 가격 13종 (원유·철광석·석탄·곡물·LNG 등)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세계은행 Pink Sheet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2015-01 – 2026-08 · 월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선종별 관련 화물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선박시장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신조선가 · 운임 3종 (BDI · 컨테이너 · VLCC)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복수 공개 원천 · 핀란드 기술산업협회 · Xeneta · OPEC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2015 – 2026 · 월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벌크 · 컨테이너 · 유조선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선박시장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현존 선복량 · 싱가포르 벙커유 판매량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UNCTADstat · 싱가포르 해사청(MPA)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연 · 월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 선종 / 3종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위험·정책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지정학 위험(GPR) · 무역정책 불확실성(미국·중국 TPU)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Caldara–Iacoviello · FRED · EPU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2015 – 2026 · 월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 선종 · Caldara TPU는 중복 제외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글로벌경제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실질 수출·수입·산업생산 · 공급망 압력 · 컨테이너 처리량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World Bank GEM · 뉴욕 연준 GSCPI · RWI/ISL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2015 – 2026 · 월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 선종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보류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 원자재 물동량 10종 (월 통합본)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UN Comtrade · JODI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2015 – 2025 · 월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2026년 국가별 보고 지연 → 미투입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검증 후보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탄소 배출권 선물 가격 (EU ETS · EUA)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선물 시장 일별 시세 → 월평균 (가은 10/06)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2015-01 – 2026-10 · 일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유조선 RF만 2/3년 개선 → 후보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6035040"/>
            <a:ext cx="11064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8A9098"/>
                </a:solidFill>
                <a:latin typeface="Pretendard"/>
                <a:ea typeface="Pretendard"/>
                <a:cs typeface="Pretendard"/>
              </a:rPr>
              <a:t>변수 사전: data/catalog/선박수주예측_변수_데이터사전.xlsx (60행 · 대분류/중분류 · 원천 URL · 시차 상태) · 이용 조건: 모두 공개 자료, 출처 표기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144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데이터 계획  </a:t>
            </a: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목표변수와 시점 규칙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목표는 선종별 월 신규 수주용량이고, 모든 설명변수는 예측 시점에 실제로 공표된 값만 쓰도록 시차를 겁니다.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07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210312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267712"/>
            <a:ext cx="22494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806행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852927"/>
            <a:ext cx="22494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수주 원자료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154679"/>
            <a:ext cx="2249424" cy="594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선종·월·출처 단위 · 출처 URL 보존 · 관측 방법 구분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210312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66160" y="2267712"/>
            <a:ext cx="22494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141개월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852927"/>
            <a:ext cx="22494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선종별 마스터 테이블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154679"/>
            <a:ext cx="2249424" cy="594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2015-01 – 2026-09 (케미컬 2016-06–), 결측률 1.0–1.5%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210312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82512" y="2267712"/>
            <a:ext cx="22494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60개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852927"/>
            <a:ext cx="22494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설명변수 후보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154679"/>
            <a:ext cx="2249424" cy="594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순차 검증으로 선종별 선택 (컨테이너선 21개)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7696" y="2103120"/>
            <a:ext cx="2642616" cy="173736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98864" y="2267712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8864" y="2852927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단위 환산 · 임의 보간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8864" y="3154679"/>
            <a:ext cx="2240280" cy="594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DWT · TEU · CBM 그대로, 미래 값 보간 금지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114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목표변수 규칙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462272"/>
            <a:ext cx="53949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신규 계약만 집계 — 수주잔고 · 인도량은 제외</a:t>
            </a:r>
          </a:p>
          <a:p>
            <a:pPr algn="l" eaLnBrk="0" hangingPunct="0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기사에 선종 값이 없으면 0이 아니라 결측. 월 전체 합계와 정확히 같을 때만 0으로 추론 — 그런 행 49개는 따로 표시(원문 대조 6건 일치)</a:t>
            </a:r>
          </a:p>
          <a:p>
            <a:pPr algn="l" eaLnBrk="0" hangingPunct="0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기사 발행일이 아니라 계약 월을 기준월로 사용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114800"/>
            <a:ext cx="53035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eaLnBrk="0" hangingPunct="0">
              <a:spcAft>
                <a:spcPts val="400"/>
              </a:spcAft>
            </a:pPr>
            <a:r>
              <a:rPr lang="ko-KR" altLang="en-US" sz="130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목표</a:t>
            </a:r>
            <a:r>
              <a:rPr lang="en-US" altLang="ko-KR" sz="130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30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변수</a:t>
            </a:r>
            <a:r>
              <a:rPr sz="13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 규칙 (−3개월 정보로 +3개월 예측)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292215"/>
              </p:ext>
            </p:extLst>
          </p:nvPr>
        </p:nvGraphicFramePr>
        <p:xfrm>
          <a:off x="6309360" y="4462272"/>
          <a:ext cx="5330951" cy="987552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48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9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자료 종류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허용 시차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분기 · 연간 자료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공표월부터 다음 공표 전까지 계단형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수주 </a:t>
                      </a:r>
                      <a:r>
                        <a:rPr lang="ko-KR" altLang="en-US"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이력</a:t>
                      </a:r>
                      <a:endParaRPr sz="1050" b="0">
                        <a:solidFill>
                          <a:srgbClr val="11121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0" latinLnBrk="0" hangingPunct="0">
                        <a:lnSpc>
                          <a:spcPct val="115000"/>
                        </a:lnSpc>
                      </a:pPr>
                      <a:r>
                        <a:rPr lang="ko-KR" altLang="ko-KR" sz="1050" b="0" kern="1200">
                          <a:solidFill>
                            <a:srgbClr val="111214"/>
                          </a:solidFill>
                          <a:latin typeface="Pretendard"/>
                        </a:rPr>
                        <a:t>최근 1·2·3개월 누적 수주용량</a:t>
                      </a:r>
                      <a:endParaRPr sz="1050" b="0" kern="1200">
                        <a:solidFill>
                          <a:srgbClr val="11121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144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데이터 계획  </a:t>
            </a: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어떻게 다듬었는가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결측 · 이상치 · 다중공선성 · 시점 정렬을 처리했고, 처리마다 이유를 기록했습니다.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08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277143"/>
              </p:ext>
            </p:extLst>
          </p:nvPr>
        </p:nvGraphicFramePr>
        <p:xfrm>
          <a:off x="548640" y="2103120"/>
          <a:ext cx="7315200" cy="3621024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처리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내용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이유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이상치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대형 발주 달 유지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실제 수주이므로 삭제하지 않고 피크 예측 한계로 보고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결측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0으로 채우지 않음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미공개와 실제 0을 구분 (0은 합계 일치 시만)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다중공선성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GPR 4종 → GPR 1개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지수 간 상관 0.51–0.91, 해석 불안정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다중공선성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국제유가 3종 → 평균 1개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브렌트 · 두바이 · WTI가 거의 같이 움직임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무역정책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미국 TPU 2종 중 1개 + 중국 TPU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미국 두 지수 상관 0.957, 중국과는 0.482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기간 부족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벙커유 가격 보류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2019년부터만 관측 → 학습 기간이 크게 줄어듦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보고 지연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물동량 10종 보류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2026년 국가별 제출 지연, 예측 시점에 값 없음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재현성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raw → processed → master 코드화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처리 CSV 23개 재현 대조 차이 0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183879" y="2103120"/>
            <a:ext cx="3456432" cy="4023360"/>
          </a:xfrm>
          <a:prstGeom prst="roundRect">
            <a:avLst>
              <a:gd name="adj" fmla="val 4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0" y="228600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탐색적 분석에서 얻은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697480"/>
            <a:ext cx="3017520" cy="25809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15000"/>
              </a:lnSpc>
              <a:spcAft>
                <a:spcPts val="200"/>
              </a:spcAft>
            </a:pPr>
            <a:r>
              <a:rPr sz="22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0.95 – 1.16</a:t>
            </a:r>
          </a:p>
          <a:p>
            <a:pPr algn="l" eaLnBrk="0" hangingPunct="0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선종별 월 수주의 변동계수 — 평균만큼 출렁임</a:t>
            </a:r>
          </a:p>
          <a:p>
            <a:pPr algn="l" eaLnBrk="0" hangingPunct="0">
              <a:lnSpc>
                <a:spcPct val="115000"/>
              </a:lnSpc>
              <a:spcAft>
                <a:spcPts val="200"/>
              </a:spcAft>
            </a:pPr>
            <a:r>
              <a:rPr sz="22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시장 국면 3개</a:t>
            </a:r>
          </a:p>
          <a:p>
            <a:pPr algn="l" eaLnBrk="0" hangingPunct="0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컨테이너선 운임·선가·처리량·공급망 군집</a:t>
            </a:r>
          </a:p>
          <a:p>
            <a:pPr algn="l" eaLnBrk="0" hangingPunct="0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실루엣 0.477 · 연속된 세 시기</a:t>
            </a:r>
          </a:p>
          <a:p>
            <a:pPr algn="l" eaLnBrk="0" hangingPunct="0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수주 중앙값 1.6만 → 27.9만 → 20.8만 TEU</a:t>
            </a:r>
          </a:p>
          <a:p>
            <a:pPr algn="l" eaLnBrk="0" hangingPunct="0">
              <a:lnSpc>
                <a:spcPct val="115000"/>
              </a:lnSpc>
              <a:spcAft>
                <a:spcPts val="200"/>
              </a:spcAft>
            </a:pPr>
            <a:r>
              <a:rPr sz="22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단일 계약이 피크</a:t>
            </a:r>
          </a:p>
          <a:p>
            <a:pPr algn="l" eaLnBrk="0" hangingPunct="0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2024-04 가스선 급등은 QatarEnergy 단일 계약</a:t>
            </a:r>
          </a:p>
          <a:p>
            <a:pPr algn="l" eaLnBrk="0" hangingPunct="0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2025는 미국 USTR 수수료 영향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144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주요 기능  </a:t>
            </a: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무엇을 해 주는가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사용자는 선종과 기준월을 고르고, 한 번의 요청으로 예측값 · 누적 예측 · 근거 변수를 받습니다.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09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2331720"/>
            <a:ext cx="22860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24A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459736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선종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0720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5종 중 선택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20439"/>
            <a:ext cx="22860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24A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648456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예측 기준월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95927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예: 2026-09 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09160"/>
            <a:ext cx="22860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24A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837176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예측 범위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84648"/>
            <a:ext cx="2286000" cy="1946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6개월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0116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입력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0116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예측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2331720"/>
            <a:ext cx="4572000" cy="86868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40480" y="242316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수주용량 예측 (ML)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74320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월별 예측값 + 과거 오차로 만든 예측 범위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2953512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선종별로 선택된 모델 · 공표 시차 적용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880360" y="2761487"/>
            <a:ext cx="731520" cy="0"/>
          </a:xfrm>
          <a:prstGeom prst="line">
            <a:avLst/>
          </a:prstGeom>
          <a:ln w="19050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275320" y="2761487"/>
            <a:ext cx="731520" cy="868681"/>
          </a:xfrm>
          <a:prstGeom prst="line">
            <a:avLst/>
          </a:prstGeom>
          <a:ln w="19050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657600" y="3520439"/>
            <a:ext cx="4572000" cy="86868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40480" y="3611879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분기 · 반기 누적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393192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다음 분기 · 반기 합계 예측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4142231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의사결정 단위에 맞춘 집계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880360" y="3950207"/>
            <a:ext cx="731520" cy="0"/>
          </a:xfrm>
          <a:prstGeom prst="line">
            <a:avLst/>
          </a:prstGeom>
          <a:ln w="19050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275320" y="3630168"/>
            <a:ext cx="731520" cy="320039"/>
          </a:xfrm>
          <a:prstGeom prst="line">
            <a:avLst/>
          </a:prstGeom>
          <a:ln w="19050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657600" y="4709160"/>
            <a:ext cx="4572000" cy="86868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840480" y="480060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근거 변수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512064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선종별 핵심 변수와 기여 방향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5330952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대분류(가격·시장·정책) → 중분류 → 변수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880360" y="5138927"/>
            <a:ext cx="731520" cy="1"/>
          </a:xfrm>
          <a:prstGeom prst="line">
            <a:avLst/>
          </a:prstGeom>
          <a:ln w="19050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275320" y="3630168"/>
            <a:ext cx="731520" cy="1508760"/>
          </a:xfrm>
          <a:prstGeom prst="line">
            <a:avLst/>
          </a:prstGeom>
          <a:ln w="19050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052560" y="2743200"/>
            <a:ext cx="2587752" cy="1783080"/>
          </a:xfrm>
          <a:prstGeom prst="roundRect">
            <a:avLst>
              <a:gd name="adj" fmla="val 1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52560" y="2880360"/>
            <a:ext cx="2587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화면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20" y="3246120"/>
            <a:ext cx="233172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15000"/>
              </a:lnSpc>
              <a:spcAft>
                <a:spcPts val="100"/>
              </a:spcAft>
            </a:pPr>
            <a:r>
              <a:rPr sz="115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3D 수주 관제 · 선종 레인</a:t>
            </a:r>
          </a:p>
          <a:p>
            <a:pPr algn="ctr" eaLnBrk="0" hangingPunct="0">
              <a:lnSpc>
                <a:spcPct val="115000"/>
              </a:lnSpc>
              <a:spcAft>
                <a:spcPts val="100"/>
              </a:spcAft>
            </a:pPr>
            <a:r>
              <a:rPr sz="115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변수 가중치 생키</a:t>
            </a:r>
          </a:p>
          <a:p>
            <a:pPr algn="ctr" eaLnBrk="0" hangingPunct="0">
              <a:lnSpc>
                <a:spcPct val="115000"/>
              </a:lnSpc>
              <a:spcAft>
                <a:spcPts val="100"/>
              </a:spcAft>
            </a:pPr>
            <a:r>
              <a:rPr sz="115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2026 검증 · 운영 예측</a:t>
            </a:r>
          </a:p>
          <a:p>
            <a:pPr algn="ctr" eaLnBrk="0" hangingPunct="0">
              <a:lnSpc>
                <a:spcPct val="115000"/>
              </a:lnSpc>
              <a:spcAft>
                <a:spcPts val="100"/>
              </a:spcAft>
            </a:pPr>
            <a:r>
              <a:rPr sz="115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발표용 스크롤 페이지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1520" y="59070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예시  </a:t>
            </a:r>
            <a:r>
              <a:rPr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컨테이너선 · 테스트 최근 분기 2026-04~06 누적 예측 975,408 TEU (실제 856,035 TEU, 오차 13.9%) 같은 형식으로 제공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01405"/>
            <a:ext cx="8229600" cy="424475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서비스 </a:t>
            </a:r>
            <a:r>
              <a:rPr lang="ko-KR" altLang="en-US" sz="120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구조</a:t>
            </a: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  </a:t>
            </a: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어떻게 학습하고 검증하는가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과거로 학습하고 미래로 검증하는 순차 검증만 쓰고, 2026년 1–8월은 모델 선택에 쓰지 않은 독립 평가로 남겼습니다.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10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205740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순차 검증 구조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14600"/>
            <a:ext cx="402336" cy="384048"/>
          </a:xfrm>
          <a:prstGeom prst="rect">
            <a:avLst/>
          </a:prstGeom>
          <a:solidFill>
            <a:srgbClr val="D6E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944368"/>
            <a:ext cx="438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7552" y="2514600"/>
            <a:ext cx="402336" cy="384048"/>
          </a:xfrm>
          <a:prstGeom prst="rect">
            <a:avLst/>
          </a:prstGeom>
          <a:solidFill>
            <a:srgbClr val="D6E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7552" y="2944368"/>
            <a:ext cx="438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26464" y="2514600"/>
            <a:ext cx="402336" cy="384048"/>
          </a:xfrm>
          <a:prstGeom prst="rect">
            <a:avLst/>
          </a:prstGeom>
          <a:solidFill>
            <a:srgbClr val="D6E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26464" y="2944368"/>
            <a:ext cx="438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17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65376" y="2514600"/>
            <a:ext cx="402336" cy="384048"/>
          </a:xfrm>
          <a:prstGeom prst="rect">
            <a:avLst/>
          </a:prstGeom>
          <a:solidFill>
            <a:srgbClr val="D6E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65376" y="2944368"/>
            <a:ext cx="438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18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04288" y="2514600"/>
            <a:ext cx="402336" cy="384048"/>
          </a:xfrm>
          <a:prstGeom prst="rect">
            <a:avLst/>
          </a:prstGeom>
          <a:solidFill>
            <a:srgbClr val="D6E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304288" y="2944368"/>
            <a:ext cx="438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19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2514600"/>
            <a:ext cx="402336" cy="384048"/>
          </a:xfrm>
          <a:prstGeom prst="rect">
            <a:avLst/>
          </a:prstGeom>
          <a:solidFill>
            <a:srgbClr val="D6E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0" y="2944368"/>
            <a:ext cx="438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82112" y="2514600"/>
            <a:ext cx="402336" cy="384048"/>
          </a:xfrm>
          <a:prstGeom prst="rect">
            <a:avLst/>
          </a:prstGeom>
          <a:solidFill>
            <a:srgbClr val="D6E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182112" y="2944368"/>
            <a:ext cx="438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21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21024" y="2514600"/>
            <a:ext cx="402336" cy="384048"/>
          </a:xfrm>
          <a:prstGeom prst="rect">
            <a:avLst/>
          </a:prstGeom>
          <a:solidFill>
            <a:srgbClr val="296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21024" y="2944368"/>
            <a:ext cx="438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22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59935" y="2514600"/>
            <a:ext cx="402336" cy="384048"/>
          </a:xfrm>
          <a:prstGeom prst="rect">
            <a:avLst/>
          </a:prstGeom>
          <a:solidFill>
            <a:srgbClr val="296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59935" y="2944368"/>
            <a:ext cx="438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23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98848" y="2514600"/>
            <a:ext cx="402336" cy="384048"/>
          </a:xfrm>
          <a:prstGeom prst="rect">
            <a:avLst/>
          </a:prstGeom>
          <a:solidFill>
            <a:srgbClr val="296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98848" y="2944368"/>
            <a:ext cx="438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24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59" y="2514600"/>
            <a:ext cx="402336" cy="384048"/>
          </a:xfrm>
          <a:prstGeom prst="rect">
            <a:avLst/>
          </a:prstGeom>
          <a:solidFill>
            <a:srgbClr val="296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37759" y="2944368"/>
            <a:ext cx="438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25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76671" y="2514600"/>
            <a:ext cx="402336" cy="384048"/>
          </a:xfrm>
          <a:prstGeom prst="rect">
            <a:avLst/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76671" y="2944368"/>
            <a:ext cx="438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26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255264"/>
            <a:ext cx="146304" cy="146304"/>
          </a:xfrm>
          <a:prstGeom prst="rect">
            <a:avLst/>
          </a:prstGeom>
          <a:solidFill>
            <a:srgbClr val="D6E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9808" y="32004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학습 2015–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11680" y="3255264"/>
            <a:ext cx="146304" cy="146304"/>
          </a:xfrm>
          <a:prstGeom prst="rect">
            <a:avLst/>
          </a:prstGeom>
          <a:solidFill>
            <a:srgbClr val="296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212848" y="32004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연도별 검증 2022–25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40480" y="3255264"/>
            <a:ext cx="146304" cy="146304"/>
          </a:xfrm>
          <a:prstGeom prst="rect">
            <a:avLst/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041648" y="32004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독립 평가 2026-01–08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3611880"/>
            <a:ext cx="5303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변수는 하나씩 빼 보며, 검증 연도 3개 중 2개 이상에서 오차가 줄 때만 제거합니다. 한 해에만 맞춘 과적합을 막기 위해서입니다.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52628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평가 지표를 고른 이유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892040"/>
            <a:ext cx="5303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30000"/>
              </a:lnSpc>
              <a:spcAft>
                <a:spcPts val="500"/>
              </a:spcAft>
            </a:pPr>
            <a:r>
              <a:rPr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단위(DWT·TEU·CBM)가 달라 비율 오차 sMAPE로 선종을 비교</a:t>
            </a:r>
          </a:p>
          <a:p>
            <a:pPr algn="l" eaLnBrk="0" hangingPunct="0">
              <a:lnSpc>
                <a:spcPct val="130000"/>
              </a:lnSpc>
              <a:spcAft>
                <a:spcPts val="500"/>
              </a:spcAft>
            </a:pPr>
            <a:r>
              <a:rPr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수주 0건·소량 달은 sMAPE를 부풀리므로 물량 가중 WAPE를 함께 보고 (정훈 검토 10/06)</a:t>
            </a:r>
          </a:p>
          <a:p>
            <a:pPr algn="l" eaLnBrk="0" hangingPunct="0">
              <a:lnSpc>
                <a:spcPct val="130000"/>
              </a:lnSpc>
              <a:spcAft>
                <a:spcPts val="500"/>
              </a:spcAft>
            </a:pPr>
            <a:r>
              <a:rPr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분기 · 반기 누적 오차로 실제 쓰임 단위를 확인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205740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2026-01–08 독립 평가 — 모델 · 기준선 (낮을수록 좋음)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6217920" y="2468880"/>
          <a:ext cx="5422392" cy="219456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선종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선택 모델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sMAPE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WAPE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컨테이너선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랜덤포레스트 · 변수 21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0.303 · 0.223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0.307 · 0.221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케미컬 탱커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최근 3개월 평균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0.349 · 0.349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0.332 · 0.332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유조선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랜덤포레스트 · 수주 이력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0.758 · 0.535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0.578 · 0.526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벌크선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선형회귀 · 수주 이력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0.531 · 0.415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0.507 · 0.488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가스운반선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최근 3개월 평균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0.653 · 0.653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0.676 · 0.676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6217920" y="4754880"/>
            <a:ext cx="5422392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· 기준선 = 최근 3개월 확정 수주 평균 — sMAPE · WAPE 모두 기준선을 이긴 선종 없음</a:t>
            </a:r>
          </a:p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· 케미컬 · 가스는 기준선 자체가 선택된 모델</a:t>
            </a:r>
          </a:p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· 월 단위는 피크 때문에 오차가 크고, 분기 · 반기로 묶으면 추세는 따라갑니다(다음 장).</a:t>
            </a:r>
          </a:p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· 출처: reports/2026_독립검증.json — 외부지표 발표 빈티지는 복원하지 못한 후향적 평가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01405"/>
            <a:ext cx="8229600" cy="424475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서비스 </a:t>
            </a:r>
            <a:r>
              <a:rPr lang="ko-KR" altLang="en-US" sz="120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구조</a:t>
            </a: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  </a:t>
            </a: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어디까지 맞고, 어떻게 개선하는가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컨테이너선은 분기 12.5% · 반기 13.3%로 추세를 따라가지만, 독립 평가에서 기준선을 못 넘어 전 선종의 변수와 모델을 보강합니다.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11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210312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집계 단위별 sMAPE (테스트 2025-04 – 2026-08, 17개월)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2514600"/>
          <a:ext cx="5852159" cy="2304288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선종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월별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분기 누적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반기 누적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024AD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컨테이너선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024AD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57.4%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024AD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12.5%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024AD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13.3%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EEF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케미컬 탱커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79.6%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58.1%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45.6%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벌크선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64.2%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44.5%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54.1%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가스운반선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93.4%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81.7%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76.6%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유조선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85.1%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73.2%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99.4%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4937760"/>
            <a:ext cx="58521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· 2026 시험지에서 오르는 시장을 낮게 봄 — 실제보다 평균 유조선 54% · 벌크선 43% · 케미컬 24% 낮게</a:t>
            </a:r>
          </a:p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· 외부지표 상관은 추세를 빼면(1차 차분) 5선종 모두 유의 0개 → 변수 영향도는 인과로 설명하지 않음</a:t>
            </a:r>
          </a:p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· 반기 평가 구간이 2개뿐이라 반기 수치는 참고값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103120"/>
            <a:ext cx="4846320" cy="229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개선 계획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256032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66560" y="260146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편향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542032"/>
            <a:ext cx="3931920" cy="4604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실적이 예측을 계속 웃돌면 예측을 올리는 편향 보정</a:t>
            </a:r>
          </a:p>
          <a:p>
            <a:pPr algn="l" eaLnBrk="0" hangingPunct="0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모델 교체보다 먼저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342900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66560" y="347014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모델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410712"/>
            <a:ext cx="3931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선종별 후보 — 벌크 ElasticNet · 케미컬 GBM(Huber)</a:t>
            </a:r>
          </a:p>
          <a:p>
            <a:pPr algn="l" eaLnBrk="0" hangingPunct="0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유조 엑스트라 트리, 기준선보다 확실히 좋을 때만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4297679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0" y="4338827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변수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279392"/>
            <a:ext cx="3931920" cy="4604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추세 뺀 상관으로 선택 · 시장 국면(군집) 변수 추가 비교</a:t>
            </a:r>
          </a:p>
          <a:p>
            <a:pPr algn="l" eaLnBrk="0" hangingPunct="0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EU ETS 선물은 유조선 후보 · 피크 이벤트 변수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0" y="5166359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0" y="5207507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5148072"/>
            <a:ext cx="3931920" cy="4604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eaLnBrk="0" hangingPunct="0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WAPE 병기</a:t>
            </a:r>
            <a:r>
              <a:rPr lang="ko-KR" altLang="en-US"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미확인 추론 </a:t>
            </a:r>
            <a:r>
              <a:rPr lang="en-US" altLang="ko-KR" sz="115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en-US"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4행 원문 대조 후 재계산</a:t>
            </a:r>
            <a:r>
              <a:rPr lang="en-US"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 </a:t>
            </a:r>
          </a:p>
          <a:p>
            <a:pPr algn="l" eaLnBrk="0" hangingPunct="0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2025년과 2026년은 모델 선택에 쓰지 않음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01405"/>
            <a:ext cx="8229600" cy="424475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서비스 </a:t>
            </a:r>
            <a:r>
              <a:rPr lang="ko-KR" altLang="en-US" sz="120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구조</a:t>
            </a: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  </a:t>
            </a: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서버 아키텍처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WSL2의 Airflow가 Docker 컨테이너 2개를 제어하는, 이미 구축한 구조를 수주 예측 파이프라인에 그대로 씁니다.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12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2011680"/>
            <a:ext cx="11091672" cy="406908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8A90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Windows PC</a:t>
            </a: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   호스트 환경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68880"/>
            <a:ext cx="3246120" cy="3474720"/>
          </a:xfrm>
          <a:prstGeom prst="roundRect">
            <a:avLst>
              <a:gd name="adj" fmla="val 3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25603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WSL2</a:t>
            </a:r>
            <a:r>
              <a:rPr sz="10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   Linux 서버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2926080"/>
            <a:ext cx="2926080" cy="2880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024A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3271" y="301752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Apache Airflow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3291840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워크플로 오케스트레이션 · DAG 3개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3271" y="3584448"/>
            <a:ext cx="2651760" cy="475488"/>
          </a:xfrm>
          <a:prstGeom prst="roundRect">
            <a:avLst>
              <a:gd name="adj" fmla="val 12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3621024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shi_ship_order_pipeline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831335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월 1회 · 수주 월보 게시 후 재학습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3271" y="4133087"/>
            <a:ext cx="2651760" cy="475488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4169663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shi_ship_data_refresh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379975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월 1회 · 공개 지표 갱신 · 시차 점검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3271" y="4681728"/>
            <a:ext cx="2651760" cy="475488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43000" y="4718304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shi_ops_log_etl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928616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매일 · 예측 로그 적재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1" y="5285232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10000"/>
              </a:lnSpc>
              <a:spcAft>
                <a:spcPts val="1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① docker compose up --wait</a:t>
            </a:r>
          </a:p>
          <a:p>
            <a:pPr algn="l" eaLnBrk="0" hangingPunct="0">
              <a:lnSpc>
                <a:spcPct val="110000"/>
              </a:lnSpc>
              <a:spcAft>
                <a:spcPts val="1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② docker exec shi-app kedro run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2468880"/>
            <a:ext cx="7040880" cy="3474720"/>
          </a:xfrm>
          <a:prstGeom prst="roundRect">
            <a:avLst>
              <a:gd name="adj" fmla="val 3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99432" y="25603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Docker Desktop</a:t>
            </a:r>
            <a:r>
              <a:rPr sz="10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   컨테이너 2개 + 공유 볼륨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99432" y="2926080"/>
            <a:ext cx="352044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024A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36592" y="301752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Ubuntu 컨테이너</a:t>
            </a:r>
            <a:r>
              <a:rPr sz="10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   shi-app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36592" y="3383280"/>
            <a:ext cx="1554480" cy="713232"/>
          </a:xfrm>
          <a:prstGeom prst="roundRect">
            <a:avLst>
              <a:gd name="adj" fmla="val 10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46320" y="34747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Python 3.12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376732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pandas · scikit-learn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82512" y="3383280"/>
            <a:ext cx="1554480" cy="713232"/>
          </a:xfrm>
          <a:prstGeom prst="roundRect">
            <a:avLst>
              <a:gd name="adj" fmla="val 10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92240" y="34747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Kedro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76732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ship_orders · ops_logs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36592" y="4206240"/>
            <a:ext cx="1554480" cy="713232"/>
          </a:xfrm>
          <a:prstGeom prst="roundRect">
            <a:avLst>
              <a:gd name="adj" fmla="val 10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846320" y="42976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MLflow  :5000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459028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실험 추적 · 모델 등록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82512" y="4206240"/>
            <a:ext cx="1554480" cy="713232"/>
          </a:xfrm>
          <a:prstGeom prst="roundRect">
            <a:avLst>
              <a:gd name="adj" fmla="val 10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92240" y="42976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FastAPI  :8000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459028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/ship/forecast 외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32520" y="2926080"/>
            <a:ext cx="260604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024A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869680" y="301752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DB 컨테이너</a:t>
            </a:r>
            <a:r>
              <a:rPr sz="10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   shi-db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329184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PostgreSQL 16  :5432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869680" y="3584448"/>
            <a:ext cx="2331720" cy="292608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869680" y="3630168"/>
            <a:ext cx="2331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app · 예측 로그 · 모델 버전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869680" y="3950208"/>
            <a:ext cx="2331720" cy="292608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869680" y="3995928"/>
            <a:ext cx="2331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ops · 관제 이벤트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869680" y="4315968"/>
            <a:ext cx="2331720" cy="292608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869680" y="4361688"/>
            <a:ext cx="2331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MLflow 메타데이터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869680" y="4681728"/>
            <a:ext cx="2331720" cy="292608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869680" y="4727448"/>
            <a:ext cx="2331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Airflow 메타데이터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138160" y="3749039"/>
            <a:ext cx="566928" cy="0"/>
          </a:xfrm>
          <a:prstGeom prst="line">
            <a:avLst/>
          </a:prstGeom>
          <a:ln w="19050">
            <a:solidFill>
              <a:srgbClr val="024A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119872" y="3502152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DB 연결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138160" y="4526280"/>
            <a:ext cx="566928" cy="0"/>
          </a:xfrm>
          <a:prstGeom prst="line">
            <a:avLst/>
          </a:prstGeom>
          <a:ln w="15875">
            <a:solidFill>
              <a:srgbClr val="296EF9"/>
            </a:solidFill>
            <a:prstDash val="lg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119872" y="45720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296EF9"/>
                </a:solidFill>
                <a:latin typeface="Pretendard Medium"/>
                <a:ea typeface="Pretendard Medium"/>
                <a:cs typeface="Pretendard Medium"/>
              </a:rPr>
              <a:t>MLflow</a:t>
            </a:r>
          </a:p>
          <a:p>
            <a:pPr algn="ctr" eaLnBrk="0" hangingPunct="0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296EF9"/>
                </a:solidFill>
                <a:latin typeface="Pretendard Medium"/>
                <a:ea typeface="Pretendard Medium"/>
                <a:cs typeface="Pretendard Medium"/>
              </a:rPr>
              <a:t>기록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99432" y="5193792"/>
            <a:ext cx="6739128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736592" y="524865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공유 볼륨  ./data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736592" y="5468112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736592" y="5509260"/>
            <a:ext cx="12435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01_raw 원천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053327" y="5468112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053327" y="5509260"/>
            <a:ext cx="12435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03_primary 전처리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370063" y="5468112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370063" y="5509260"/>
            <a:ext cx="12435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06_models 모델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686800" y="5468112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686800" y="5509260"/>
            <a:ext cx="12435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mlflow 아티팩트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003536" y="5468112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003536" y="5509260"/>
            <a:ext cx="12435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08 리포트 · 로그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3822191" y="3310128"/>
            <a:ext cx="749809" cy="0"/>
          </a:xfrm>
          <a:prstGeom prst="line">
            <a:avLst/>
          </a:prstGeom>
          <a:ln w="19050">
            <a:solidFill>
              <a:srgbClr val="024A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3840480" y="303580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컨테이너 관리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3822191" y="4160520"/>
            <a:ext cx="749809" cy="0"/>
          </a:xfrm>
          <a:prstGeom prst="line">
            <a:avLst/>
          </a:prstGeom>
          <a:ln w="19050">
            <a:solidFill>
              <a:srgbClr val="296EF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3840480" y="420624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296EF9"/>
                </a:solidFill>
                <a:latin typeface="Pretendard Medium"/>
                <a:ea typeface="Pretendard Medium"/>
                <a:cs typeface="Pretendard Medium"/>
              </a:rPr>
              <a:t>kedro run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4572000" y="2221992"/>
            <a:ext cx="365760" cy="0"/>
          </a:xfrm>
          <a:prstGeom prst="line">
            <a:avLst/>
          </a:prstGeom>
          <a:ln w="1905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5010912" y="21305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주요 제어 · DB 연결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355080" y="2221992"/>
            <a:ext cx="365760" cy="0"/>
          </a:xfrm>
          <a:prstGeom prst="line">
            <a:avLst/>
          </a:prstGeom>
          <a:ln w="19050">
            <a:solidFill>
              <a:srgbClr val="296EF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6793992" y="21305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Kedro 명령 실행 (Airflow → Kedro)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006840" y="2221992"/>
            <a:ext cx="365760" cy="0"/>
          </a:xfrm>
          <a:prstGeom prst="line">
            <a:avLst/>
          </a:prstGeom>
          <a:ln w="19050">
            <a:solidFill>
              <a:srgbClr val="296EF9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9445752" y="21305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데이터 저장 (MLflow → DB)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01405"/>
            <a:ext cx="8229600" cy="424475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서비스 </a:t>
            </a:r>
            <a:r>
              <a:rPr lang="ko-KR" altLang="en-US" sz="120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구조</a:t>
            </a: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  </a:t>
            </a: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머신러닝 프로세스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Airflow가 Kedro 파이프라인을 실행하고, scikit-learn으로 학습·평가한 모델을 MLflow에 등록하면 예측 API가 그 모델을 불러 씁니다.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13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2057400"/>
            <a:ext cx="2057400" cy="118872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85800" y="2194560"/>
            <a:ext cx="347472" cy="347472"/>
          </a:xfrm>
          <a:prstGeom prst="ellipse">
            <a:avLst/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240280"/>
            <a:ext cx="347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221992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Airflow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3347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월 1회 재학습 실행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8950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shi_ship_order_pipeline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07208" y="2057400"/>
            <a:ext cx="2057400" cy="118872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944368" y="2194560"/>
            <a:ext cx="347472" cy="347472"/>
          </a:xfrm>
          <a:prstGeom prst="ellipse">
            <a:avLst/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44368" y="2240280"/>
            <a:ext cx="347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4136" y="2221992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Kedro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4368" y="263347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파이프라인 · 데이터 카탈로그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4368" y="288950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kedro run --pipeline=ship_orders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624328" y="2651760"/>
            <a:ext cx="155448" cy="0"/>
          </a:xfrm>
          <a:prstGeom prst="line">
            <a:avLst/>
          </a:prstGeom>
          <a:ln w="19050">
            <a:solidFill>
              <a:srgbClr val="024A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065776" y="2057400"/>
            <a:ext cx="2057400" cy="1188720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202936" y="2194560"/>
            <a:ext cx="347472" cy="347472"/>
          </a:xfrm>
          <a:prstGeom prst="ellipse">
            <a:avLst/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02936" y="2240280"/>
            <a:ext cx="347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32704" y="2221992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scikit-learn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02936" y="263347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전처리 → 학습 → 평가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02936" y="288950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선형 · Ridge · RF · 부스팅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882896" y="2651760"/>
            <a:ext cx="155448" cy="0"/>
          </a:xfrm>
          <a:prstGeom prst="line">
            <a:avLst/>
          </a:prstGeom>
          <a:ln w="19050">
            <a:solidFill>
              <a:srgbClr val="024A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324344" y="2057400"/>
            <a:ext cx="2057400" cy="1188720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461504" y="2194560"/>
            <a:ext cx="347472" cy="347472"/>
          </a:xfrm>
          <a:prstGeom prst="ellipse">
            <a:avLst/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61504" y="2240280"/>
            <a:ext cx="347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91271" y="2221992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MLflow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61504" y="263347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실험 기록 · 모델 등록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1504" y="288950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ship_order_{선종}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141464" y="2651760"/>
            <a:ext cx="155448" cy="0"/>
          </a:xfrm>
          <a:prstGeom prst="line">
            <a:avLst/>
          </a:prstGeom>
          <a:ln w="19050">
            <a:solidFill>
              <a:srgbClr val="024A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582912" y="2057400"/>
            <a:ext cx="2057400" cy="118872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720072" y="2194560"/>
            <a:ext cx="347472" cy="347472"/>
          </a:xfrm>
          <a:prstGeom prst="ellipse">
            <a:avLst/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720072" y="2240280"/>
            <a:ext cx="347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9840" y="2221992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DB · 공유 볼륨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20072" y="263347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메타데이터 · 모델 파일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20072" y="288950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PostgreSQL · ./data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400032" y="2651760"/>
            <a:ext cx="155448" cy="0"/>
          </a:xfrm>
          <a:prstGeom prst="line">
            <a:avLst/>
          </a:prstGeom>
          <a:ln w="19050">
            <a:solidFill>
              <a:srgbClr val="024A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48640" y="345643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3단계 상세  </a:t>
            </a:r>
            <a:r>
              <a:rPr sz="11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학습과 서빙이 같은 시차 규칙 · 마스터 생성 코드를 씁니다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3858768"/>
            <a:ext cx="1417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48640" y="3977639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데이터 수집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427024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공개 원천 · 월보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148840" y="3858768"/>
            <a:ext cx="1417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148840" y="3977639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검증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94560" y="427024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단위 · 키 · 음수 · 출처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984248" y="4288536"/>
            <a:ext cx="146304" cy="0"/>
          </a:xfrm>
          <a:prstGeom prst="line">
            <a:avLst/>
          </a:prstGeom>
          <a:ln w="15875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3749039" y="3858768"/>
            <a:ext cx="1417320" cy="868680"/>
          </a:xfrm>
          <a:prstGeom prst="roundRect">
            <a:avLst>
              <a:gd name="adj" fmla="val 10000"/>
            </a:avLst>
          </a:prstGeom>
          <a:solidFill>
            <a:srgbClr val="EEF3FD"/>
          </a:solidFill>
          <a:ln w="15875">
            <a:solidFill>
              <a:srgbClr val="024A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749039" y="3977639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전처리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94759" y="427024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raw → processed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584447" y="4288536"/>
            <a:ext cx="146305" cy="0"/>
          </a:xfrm>
          <a:prstGeom prst="line">
            <a:avLst/>
          </a:prstGeom>
          <a:ln w="15875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5349240" y="3858768"/>
            <a:ext cx="1417320" cy="868680"/>
          </a:xfrm>
          <a:prstGeom prst="roundRect">
            <a:avLst>
              <a:gd name="adj" fmla="val 10000"/>
            </a:avLst>
          </a:prstGeom>
          <a:solidFill>
            <a:srgbClr val="EEF3FD"/>
          </a:solidFill>
          <a:ln w="15875">
            <a:solidFill>
              <a:srgbClr val="024A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349240" y="3977639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시차 · 마스터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94959" y="427024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공표 시차 1·2·3·6개월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184648" y="4288536"/>
            <a:ext cx="146304" cy="0"/>
          </a:xfrm>
          <a:prstGeom prst="line">
            <a:avLst/>
          </a:prstGeom>
          <a:ln w="15875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6949440" y="3858768"/>
            <a:ext cx="1417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949440" y="3977639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학습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95159" y="427024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변수 후진 제거 · 모델 비교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784848" y="4288536"/>
            <a:ext cx="146304" cy="0"/>
          </a:xfrm>
          <a:prstGeom prst="line">
            <a:avLst/>
          </a:prstGeom>
          <a:ln w="15875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8549640" y="3858768"/>
            <a:ext cx="1417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549640" y="3977639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평가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95360" y="427024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검증 2022–25 · 2026 독립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8385048" y="4288536"/>
            <a:ext cx="146304" cy="0"/>
          </a:xfrm>
          <a:prstGeom prst="line">
            <a:avLst/>
          </a:prstGeom>
          <a:ln w="15875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10149840" y="3858768"/>
            <a:ext cx="1417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149840" y="3977639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모델 저장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195560" y="427024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선종별 · 레지스트리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9985248" y="4288536"/>
            <a:ext cx="146304" cy="0"/>
          </a:xfrm>
          <a:prstGeom prst="line">
            <a:avLst/>
          </a:prstGeom>
          <a:ln w="15875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548640" y="5074920"/>
            <a:ext cx="6035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24A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31520" y="5148072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추론 · 서빙 API   /ship/forecast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1520" y="5440680"/>
            <a:ext cx="5669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선종 · 기준월 입력 → 그때 공표된 값으로 피처 구성 → 등록된 선종 모델 → 예측 · 범위. 모델이 바뀌면 다음 요청부터 반영.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3904487" y="4745736"/>
            <a:ext cx="0" cy="301752"/>
          </a:xfrm>
          <a:prstGeom prst="line">
            <a:avLst/>
          </a:prstGeom>
          <a:ln w="15875">
            <a:solidFill>
              <a:srgbClr val="024AD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3977639" y="477316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같은 전처리 함수 호출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0396728" y="4745736"/>
            <a:ext cx="0" cy="146304"/>
          </a:xfrm>
          <a:prstGeom prst="line">
            <a:avLst/>
          </a:prstGeom>
          <a:ln w="15875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>
            <a:off x="6400800" y="4892040"/>
            <a:ext cx="3995928" cy="0"/>
          </a:xfrm>
          <a:prstGeom prst="line">
            <a:avLst/>
          </a:prstGeom>
          <a:ln w="15875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6400800" y="4892040"/>
            <a:ext cx="0" cy="155448"/>
          </a:xfrm>
          <a:prstGeom prst="line">
            <a:avLst/>
          </a:prstGeom>
          <a:ln w="15875">
            <a:solidFill>
              <a:srgbClr val="024A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7863840" y="491947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모델 로드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49440" y="50749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4C525A"/>
                </a:solidFill>
                <a:latin typeface="Pretendard SemiBold"/>
                <a:ea typeface="Pretendard SemiBold"/>
                <a:cs typeface="Pretendard SemiBold"/>
              </a:rPr>
              <a:t>결과물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949440" y="534924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실험 기록  </a:t>
            </a: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MLflow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26880" y="534924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등록된 모델  </a:t>
            </a: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ship_order_{선종}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949440" y="569671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대시보드  </a:t>
            </a: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변수 계층 · 예측 화면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326880" y="569671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재현 가능한 파이프라인  </a:t>
            </a: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Kedro + 코드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01405"/>
            <a:ext cx="8229600" cy="424475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서비스 </a:t>
            </a:r>
            <a:r>
              <a:rPr lang="ko-KR" altLang="en-US" sz="120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구조</a:t>
            </a: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  </a:t>
            </a: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예측 흐름 순서도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/ship/forecast 한 번의 요청이 시점 확인 → 피처 구성 → 모델 선택 → 예측 · 범위 → 화면 · 로그로 끝납니다.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14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2057400"/>
            <a:ext cx="2103120" cy="685800"/>
          </a:xfrm>
          <a:prstGeom prst="roundRect">
            <a:avLst>
              <a:gd name="adj" fmla="val 8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144268"/>
            <a:ext cx="20116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사용자 입력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27732"/>
            <a:ext cx="20116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D6E3FB"/>
                </a:solidFill>
                <a:latin typeface="Pretendard"/>
                <a:ea typeface="Pretendard"/>
                <a:cs typeface="Pretendard"/>
              </a:rPr>
              <a:t>선종 · 기준월 · 예측 범위</a:t>
            </a:r>
          </a:p>
        </p:txBody>
      </p:sp>
      <p:sp>
        <p:nvSpPr>
          <p:cNvPr id="13" name="Diamond 12"/>
          <p:cNvSpPr/>
          <p:nvPr/>
        </p:nvSpPr>
        <p:spPr>
          <a:xfrm>
            <a:off x="548640" y="2903220"/>
            <a:ext cx="2103120" cy="86868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24A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154679"/>
            <a:ext cx="182879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eaLnBrk="0" hangingPunct="0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입력이 올바른가?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51960"/>
            <a:ext cx="21031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4338828"/>
            <a:ext cx="20116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기준일 확정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22292"/>
            <a:ext cx="20116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게시일 확인된 수주만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49240"/>
            <a:ext cx="21031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5390388"/>
            <a:ext cx="20116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4C525A"/>
                </a:solidFill>
                <a:latin typeface="Pretendard SemiBold"/>
                <a:ea typeface="Pretendard SemiBold"/>
                <a:cs typeface="Pretendard SemiBold"/>
              </a:rPr>
              <a:t>400 오류 반환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673852"/>
            <a:ext cx="20116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허용 선종 5종 안내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600200" y="2770632"/>
            <a:ext cx="0" cy="109728"/>
          </a:xfrm>
          <a:prstGeom prst="line">
            <a:avLst/>
          </a:prstGeom>
          <a:ln w="15875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600200" y="3785615"/>
            <a:ext cx="0" cy="438913"/>
          </a:xfrm>
          <a:prstGeom prst="line">
            <a:avLst/>
          </a:prstGeom>
          <a:ln w="15875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691640" y="38862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예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384048" y="3337560"/>
            <a:ext cx="164592" cy="0"/>
          </a:xfrm>
          <a:prstGeom prst="line">
            <a:avLst/>
          </a:prstGeom>
          <a:ln w="15875">
            <a:solidFill>
              <a:srgbClr val="8A90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84048" y="3337560"/>
            <a:ext cx="0" cy="2304288"/>
          </a:xfrm>
          <a:prstGeom prst="line">
            <a:avLst/>
          </a:prstGeom>
          <a:ln w="15875">
            <a:solidFill>
              <a:srgbClr val="8A90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84048" y="5641848"/>
            <a:ext cx="146304" cy="0"/>
          </a:xfrm>
          <a:prstGeom prst="line">
            <a:avLst/>
          </a:prstGeom>
          <a:ln w="15875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9728" y="30449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아니오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670048" y="4590288"/>
            <a:ext cx="457200" cy="0"/>
          </a:xfrm>
          <a:prstGeom prst="line">
            <a:avLst/>
          </a:prstGeom>
          <a:ln w="15875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154680" y="2011680"/>
            <a:ext cx="4892040" cy="3977639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91840" y="2084831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선종 모델 예측 (ML)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37560" y="2377440"/>
            <a:ext cx="452628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0" y="244144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피처 구성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2450592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10000"/>
              </a:lnSpc>
              <a:spcAft>
                <a:spcPts val="400"/>
              </a:spcAft>
            </a:pPr>
            <a:r>
              <a:rPr sz="9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변수마다 선택된 시차로, 기준일에 공표된 값만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37560" y="3090672"/>
            <a:ext cx="452628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474720" y="3154679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결측 점검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3163824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10000"/>
              </a:lnSpc>
              <a:spcAft>
                <a:spcPts val="400"/>
              </a:spcAft>
            </a:pPr>
            <a:r>
              <a:rPr sz="9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공표 전 지표는 직전 값 · 없으면 기준선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577840" y="2990088"/>
            <a:ext cx="0" cy="91440"/>
          </a:xfrm>
          <a:prstGeom prst="line">
            <a:avLst/>
          </a:prstGeom>
          <a:ln w="12700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3337560" y="3803904"/>
            <a:ext cx="452628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474720" y="386791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모델 선택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60" y="3877056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10000"/>
              </a:lnSpc>
              <a:spcAft>
                <a:spcPts val="400"/>
              </a:spcAft>
            </a:pPr>
            <a:r>
              <a:rPr sz="9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선종별 등록 모델 · 기준선보다 나쁘면 기준선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577840" y="3703320"/>
            <a:ext cx="0" cy="91440"/>
          </a:xfrm>
          <a:prstGeom prst="line">
            <a:avLst/>
          </a:prstGeom>
          <a:ln w="12700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3337560" y="4517136"/>
            <a:ext cx="452628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474720" y="458114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예측 · 범위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09160" y="4590288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10000"/>
              </a:lnSpc>
              <a:spcAft>
                <a:spcPts val="400"/>
              </a:spcAft>
            </a:pPr>
            <a:r>
              <a:rPr sz="9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+1·3·6개월 값 · 과거 순차 오차 분위로 범위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577840" y="4416551"/>
            <a:ext cx="0" cy="91441"/>
          </a:xfrm>
          <a:prstGeom prst="line">
            <a:avLst/>
          </a:prstGeom>
          <a:ln w="12700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3337560" y="5230368"/>
            <a:ext cx="452628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474720" y="529437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누적 · 근거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09160" y="530352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10000"/>
              </a:lnSpc>
              <a:spcAft>
                <a:spcPts val="400"/>
              </a:spcAft>
            </a:pPr>
            <a:r>
              <a:rPr sz="9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분기 · 반기 합계 · 변수 기여 방향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577840" y="5129784"/>
            <a:ext cx="0" cy="91440"/>
          </a:xfrm>
          <a:prstGeom prst="line">
            <a:avLst/>
          </a:prstGeom>
          <a:ln w="12700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065008" y="4023360"/>
            <a:ext cx="420624" cy="0"/>
          </a:xfrm>
          <a:prstGeom prst="line">
            <a:avLst/>
          </a:prstGeom>
          <a:ln w="15875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8503920" y="2011680"/>
            <a:ext cx="3136392" cy="2971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024A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668512" y="212140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결과 표시 규칙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68512" y="2514600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모델이 기준선보다 나음 (검증)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68512" y="274320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D7F4E"/>
                </a:solidFill>
                <a:latin typeface="Pretendard SemiBold"/>
                <a:ea typeface="Pretendard SemiBold"/>
                <a:cs typeface="Pretendard SemiBold"/>
              </a:rPr>
              <a:t>모델 예측 + 범위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68512" y="3118104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기준선과 비슷하거나 나쁨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68512" y="334670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B45F06"/>
                </a:solidFill>
                <a:latin typeface="Pretendard SemiBold"/>
                <a:ea typeface="Pretendard SemiBold"/>
                <a:cs typeface="Pretendard SemiBold"/>
              </a:rPr>
              <a:t>기준선 값 우선 표시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68512" y="3721608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필수 지표 미공표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68512" y="395020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C525A"/>
                </a:solidFill>
                <a:latin typeface="Pretendard SemiBold"/>
                <a:ea typeface="Pretendard SemiBold"/>
                <a:cs typeface="Pretendard SemiBold"/>
              </a:rPr>
              <a:t>직전 값 사용 · 표시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68512" y="432511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피크 이벤트 감지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68512" y="455371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+ 이벤트 메모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503920" y="5166360"/>
            <a:ext cx="3136392" cy="777240"/>
          </a:xfrm>
          <a:prstGeom prst="roundRect">
            <a:avLst>
              <a:gd name="adj" fmla="val 8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549640" y="5298948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결과 화면 · 로그 기록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49640" y="5582412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D6E3FB"/>
                </a:solidFill>
                <a:latin typeface="Pretendard"/>
                <a:ea typeface="Pretendard"/>
                <a:cs typeface="Pretendard"/>
              </a:rPr>
              <a:t>/ship 화면 · app.predictions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0058400" y="5001768"/>
            <a:ext cx="0" cy="146304"/>
          </a:xfrm>
          <a:prstGeom prst="line">
            <a:avLst/>
          </a:prstGeom>
          <a:ln w="15875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144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개발 계획  </a:t>
            </a: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무엇으로, 언제 만드는가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검증된 버전으로 고정한 오픈소스만 쓰며, 남은 기간을 기획서 → 변수 보강 → 서비스화 순서로 씁니다.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15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103120"/>
          <a:ext cx="5120638" cy="3621024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37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영역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기술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데이터 처리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Python 3.12 · pandas · NumPy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모델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scikit-learn (+ XGBoost · LightGBM 비교)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파이프라인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Kedro · Airflow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실험 관리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MLflow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서빙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FastAPI · Uvicorn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DB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PostgreSQL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화면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three.js (3D 관제 · 발표 페이지) · ECharts (2D 대시보드)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배포 · 협업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같은 와이파이 IP · QR 접속 · Slack · Google Drive · GitHub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035040" y="210312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일정 (10/06 주제 확정 이후)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35040" y="2514600"/>
            <a:ext cx="0" cy="3474720"/>
          </a:xfrm>
          <a:prstGeom prst="line">
            <a:avLst/>
          </a:prstGeom>
          <a:ln w="6350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657848" y="2514600"/>
            <a:ext cx="0" cy="3474720"/>
          </a:xfrm>
          <a:prstGeom prst="line">
            <a:avLst/>
          </a:prstGeom>
          <a:ln w="6350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280655" y="2514600"/>
            <a:ext cx="0" cy="3474720"/>
          </a:xfrm>
          <a:prstGeom prst="line">
            <a:avLst/>
          </a:prstGeom>
          <a:ln w="6350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03463" y="2514600"/>
            <a:ext cx="0" cy="3474720"/>
          </a:xfrm>
          <a:prstGeom prst="line">
            <a:avLst/>
          </a:prstGeom>
          <a:ln w="6350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26272" y="2514600"/>
            <a:ext cx="0" cy="3474720"/>
          </a:xfrm>
          <a:prstGeom prst="line">
            <a:avLst/>
          </a:prstGeom>
          <a:ln w="6350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9080" y="2514600"/>
            <a:ext cx="0" cy="3474720"/>
          </a:xfrm>
          <a:prstGeom prst="line">
            <a:avLst/>
          </a:prstGeom>
          <a:ln w="6350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71888" y="2514600"/>
            <a:ext cx="0" cy="3474720"/>
          </a:xfrm>
          <a:prstGeom prst="line">
            <a:avLst/>
          </a:prstGeom>
          <a:ln w="6350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94695" y="2514600"/>
            <a:ext cx="0" cy="3474720"/>
          </a:xfrm>
          <a:prstGeom prst="line">
            <a:avLst/>
          </a:prstGeom>
          <a:ln w="6350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017504" y="2514600"/>
            <a:ext cx="0" cy="3474720"/>
          </a:xfrm>
          <a:prstGeom prst="line">
            <a:avLst/>
          </a:prstGeom>
          <a:ln w="6350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640312" y="2514600"/>
            <a:ext cx="0" cy="3474720"/>
          </a:xfrm>
          <a:prstGeom prst="line">
            <a:avLst/>
          </a:prstGeom>
          <a:ln w="6350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35040" y="2487168"/>
            <a:ext cx="6228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10/06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7848" y="2487168"/>
            <a:ext cx="6228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0655" y="2487168"/>
            <a:ext cx="6228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3463" y="2487168"/>
            <a:ext cx="6228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26272" y="2487168"/>
            <a:ext cx="6228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9080" y="2487168"/>
            <a:ext cx="6228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71888" y="2487168"/>
            <a:ext cx="6228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94695" y="2487168"/>
            <a:ext cx="6228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7504" y="2487168"/>
            <a:ext cx="6228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62472" y="2834640"/>
            <a:ext cx="1190752" cy="256032"/>
          </a:xfrm>
          <a:prstGeom prst="roundRect">
            <a:avLst>
              <a:gd name="adj" fmla="val 3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35040" y="3118104"/>
            <a:ext cx="5605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주제 확정 · 기획서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85280" y="3474720"/>
            <a:ext cx="1813560" cy="256032"/>
          </a:xfrm>
          <a:prstGeom prst="roundRect">
            <a:avLst>
              <a:gd name="adj" fmla="val 30000"/>
            </a:avLst>
          </a:prstGeom>
          <a:solidFill>
            <a:srgbClr val="D6E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35040" y="3758183"/>
            <a:ext cx="5605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자료조사 · 코드 교차 검토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08088" y="4114800"/>
            <a:ext cx="1813560" cy="256032"/>
          </a:xfrm>
          <a:prstGeom prst="roundRect">
            <a:avLst>
              <a:gd name="adj" fmla="val 30000"/>
            </a:avLst>
          </a:prstGeom>
          <a:solidFill>
            <a:srgbClr val="D6E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35040" y="4398264"/>
            <a:ext cx="5605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변수 보강 · 튜닝 · 모델 비교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30895" y="4754879"/>
            <a:ext cx="2436368" cy="256032"/>
          </a:xfrm>
          <a:prstGeom prst="roundRect">
            <a:avLst>
              <a:gd name="adj" fmla="val 30000"/>
            </a:avLst>
          </a:prstGeom>
          <a:solidFill>
            <a:srgbClr val="D6E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035040" y="5038343"/>
            <a:ext cx="5605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API · 시각화 · 파이프라인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99320" y="5394960"/>
            <a:ext cx="1813560" cy="256032"/>
          </a:xfrm>
          <a:prstGeom prst="roundRect">
            <a:avLst>
              <a:gd name="adj" fmla="val 30000"/>
            </a:avLst>
          </a:prstGeom>
          <a:solidFill>
            <a:srgbClr val="D6E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35040" y="5678424"/>
            <a:ext cx="5605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배포(IP) · 테스트 · 시연 영상 · 발표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6035040"/>
            <a:ext cx="5577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8A9098"/>
                </a:solidFill>
                <a:latin typeface="Pretendard"/>
                <a:ea typeface="Pretendard"/>
                <a:cs typeface="Pretendard"/>
              </a:rPr>
              <a:t>10/09(금) 휴일 · 배포는 도메인 없이 IP 연결까지 (10/06 회의 결정)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144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개발 계획  </a:t>
            </a: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누가 무엇을 맡는가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2493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en-US" altLang="ko-KR"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16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21488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35000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8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김민규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807208"/>
            <a:ext cx="1435608" cy="310896"/>
          </a:xfrm>
          <a:prstGeom prst="roundRect">
            <a:avLst>
              <a:gd name="adj" fmla="val 50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848356"/>
            <a:ext cx="14356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PM · 모델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46120"/>
            <a:ext cx="3108960" cy="4246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데이터 분석 메인 </a:t>
            </a:r>
            <a:r>
              <a:rPr lang="en-US" altLang="ko-KR"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- </a:t>
            </a: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수주 예측 모델 · 변수 선택 로직 · 일정 관리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21488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26279" y="235000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8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김정훈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79" y="2807208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26279" y="2848356"/>
            <a:ext cx="15819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코드 교차 검토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3246120"/>
            <a:ext cx="3108960" cy="2034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모델 코드 독립 검증 · </a:t>
            </a:r>
            <a:r>
              <a:rPr lang="ko-KR" altLang="en-US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군집 분석 </a:t>
            </a:r>
            <a:r>
              <a:rPr lang="en-US" altLang="ko-KR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프론트엔드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21488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19" y="235000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8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오희진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19" y="2807208"/>
            <a:ext cx="996696" cy="310896"/>
          </a:xfrm>
          <a:prstGeom prst="roundRect">
            <a:avLst>
              <a:gd name="adj" fmla="val 50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75319" y="2848356"/>
            <a:ext cx="9966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자료조사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9" y="3246120"/>
            <a:ext cx="3108960" cy="4246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eaLnBrk="0" hangingPunct="0">
              <a:lnSpc>
                <a:spcPct val="125000"/>
              </a:lnSpc>
              <a:spcAft>
                <a:spcPts val="400"/>
              </a:spcAft>
            </a:pPr>
            <a:r>
              <a:rPr lang="en-US" altLang="ko-KR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Case Study, Reference </a:t>
            </a:r>
            <a:r>
              <a:rPr lang="ko-KR" altLang="en-US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조사 </a:t>
            </a:r>
            <a:r>
              <a:rPr lang="en-US" altLang="ko-KR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-&gt; </a:t>
            </a:r>
            <a:r>
              <a:rPr lang="ko-KR" altLang="en-US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피처 후보 탐색</a:t>
            </a:r>
            <a:r>
              <a:rPr lang="en-US" altLang="ko-KR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연도</a:t>
            </a:r>
            <a:r>
              <a:rPr lang="en-US" altLang="ko-KR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선종별 수주 피크 원인 조사</a:t>
            </a:r>
            <a:r>
              <a:rPr lang="en-US" altLang="ko-KR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)</a:t>
            </a:r>
            <a:endParaRPr lang="ko-KR" altLang="en-US" sz="1150">
              <a:solidFill>
                <a:srgbClr val="4C525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48640" y="41605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436168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8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김가은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18888"/>
            <a:ext cx="996696" cy="310896"/>
          </a:xfrm>
          <a:prstGeom prst="roundRect">
            <a:avLst>
              <a:gd name="adj" fmla="val 50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4860036"/>
            <a:ext cx="9966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자료조사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257800"/>
            <a:ext cx="3108960" cy="4246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eaLnBrk="0" hangingPunct="0">
              <a:lnSpc>
                <a:spcPct val="125000"/>
              </a:lnSpc>
              <a:spcAft>
                <a:spcPts val="400"/>
              </a:spcAft>
            </a:pPr>
            <a:r>
              <a:rPr lang="en-US" altLang="ko-KR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Case Study, Reference </a:t>
            </a:r>
            <a:r>
              <a:rPr lang="ko-KR" altLang="en-US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조사 </a:t>
            </a:r>
            <a:r>
              <a:rPr lang="en-US" altLang="ko-KR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-&gt; </a:t>
            </a:r>
            <a:r>
              <a:rPr lang="ko-KR" altLang="en-US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피처 후보 탐색</a:t>
            </a:r>
            <a:r>
              <a:rPr lang="en-US" altLang="ko-KR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탄소 규제 지수 </a:t>
            </a:r>
            <a:r>
              <a:rPr lang="en-US" altLang="ko-KR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ETS, EU </a:t>
            </a:r>
            <a:r>
              <a:rPr lang="ko-KR" altLang="en-US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등</a:t>
            </a:r>
            <a:r>
              <a:rPr lang="en-US" altLang="ko-KR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)</a:t>
            </a:r>
            <a:endParaRPr lang="ko-KR" altLang="en-US" sz="1150">
              <a:solidFill>
                <a:srgbClr val="4C525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297679" y="41605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26279" y="436168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8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김미성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26279" y="4818888"/>
            <a:ext cx="996696" cy="310896"/>
          </a:xfrm>
          <a:prstGeom prst="roundRect">
            <a:avLst>
              <a:gd name="adj" fmla="val 50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26279" y="4860036"/>
            <a:ext cx="9966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자료조사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79" y="5257800"/>
            <a:ext cx="3108960" cy="4246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en-US"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Case Study, Reference </a:t>
            </a:r>
            <a:r>
              <a:rPr lang="ko-KR" altLang="en-US"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조사 </a:t>
            </a:r>
            <a:r>
              <a:rPr lang="en-US" altLang="ko-KR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-&gt; </a:t>
            </a:r>
            <a:r>
              <a:rPr lang="ko-KR" altLang="en-US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피처 후보 탐색</a:t>
            </a:r>
            <a:r>
              <a:rPr lang="en-US" altLang="ko-KR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물동량 · 원자재 지표</a:t>
            </a:r>
            <a:r>
              <a:rPr lang="en-US"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등</a:t>
            </a:r>
            <a:r>
              <a:rPr lang="en-US"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)</a:t>
            </a:r>
            <a:endParaRPr sz="1150" b="0">
              <a:solidFill>
                <a:srgbClr val="4C525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046719" y="41605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75319" y="436168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8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최현서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75319" y="4818888"/>
            <a:ext cx="1728216" cy="310896"/>
          </a:xfrm>
          <a:prstGeom prst="roundRect">
            <a:avLst>
              <a:gd name="adj" fmla="val 50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75319" y="4860036"/>
            <a:ext cx="172821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시각화 · 인프라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19" y="525780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변수 계층 시각화 · Docker · API · 배포 · 기획서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144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기대 효과  </a:t>
            </a:r>
            <a:r>
              <a:rPr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무엇이 좋아지는가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4장의 필요성 다섯 가지에 하나씩, 수치로 확인되는 결과로 답합니다.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17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98448" y="1901952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기대효과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901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확인 수치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67712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243920"/>
            <a:ext cx="566928" cy="3562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E1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2212848"/>
            <a:ext cx="5120640" cy="256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50" b="1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분기 누적을 기본, 반기를 차선으로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2523744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월 예측은 참고값, 계획은 분기 합으로 돕고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분기가 흔들리는 선종은 반기로 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2212848"/>
            <a:ext cx="5010912" cy="658368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12280" y="2267712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57% → 12.5%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286000"/>
            <a:ext cx="26517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컨테이너선 월 → 분기 sMAPE (반기 13.3%)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5개 선종 모두 분기 합에서 오차 감소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606039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← N1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2926079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48640" y="3054096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3030304"/>
            <a:ext cx="566928" cy="3562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E2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2999232"/>
            <a:ext cx="5120640" cy="256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50" b="1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선종별 모델 · 예측 · 근거 변수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3310127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선종마다 고른 모델로 +1·3·6개월을 예측하고,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그 선종이 기댄 변수를 함께 보여 줍니다.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9400" y="2999232"/>
            <a:ext cx="5010912" cy="658368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12280" y="3054096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5 ×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3072384"/>
            <a:ext cx="26517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선종 5개 × 선행 +1·3·6개월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변수 가중치 생키 화면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3392424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← N2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3712463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48640" y="3840479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3816688"/>
            <a:ext cx="566928" cy="3562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E3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3785615"/>
            <a:ext cx="5120640" cy="256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50" b="1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미래 정보 누수 없는 3개월 앞 예측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4096511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변수마다 공표 시차를 걸고 게시일이 확인된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수주만 넣어, 그때 가능했던 예측만 냅니다.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29400" y="3785615"/>
            <a:ext cx="5010912" cy="658368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12280" y="3840479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누수 0건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3858768"/>
            <a:ext cx="26517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공표 시차 규칙 · 게시일 확인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2026-01–08 독립 평가로 확인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4178807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← N3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48640" y="44988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548640" y="4626864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4603072"/>
            <a:ext cx="566928" cy="3562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E4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98448" y="4572000"/>
            <a:ext cx="5120640" cy="256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50" b="1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점 예측과 보정 범위, 과소예측 경고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98448" y="4882896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과거 오차로 만든 범위를 함께 보여 주고,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오르는 시장을 낮게 보는 경향을 표시합니다.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29400" y="4572000"/>
            <a:ext cx="5010912" cy="658368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12280" y="4626864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10 – 90% 범위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15400" y="4645152"/>
            <a:ext cx="26517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실제÷예측 분위로 만든 범위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유조선 54% · 벌크선 43% 과소 경향 표시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4965192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← N4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48640" y="5285232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548640" y="5413248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8640" y="5389456"/>
            <a:ext cx="566928" cy="3562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E5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98448" y="5358384"/>
            <a:ext cx="5120640" cy="256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50" b="1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기준선 대비 성적 공개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98448" y="5669280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최근 3개월 평균과 sMAPE·WAPE를 나란히 공개하고,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모델은 기준선보다 나을 때만 씁니다.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629400" y="5358384"/>
            <a:ext cx="5010912" cy="658368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812280" y="5413248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0 / 5 공개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15400" y="5431536"/>
            <a:ext cx="26517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현재 기준선을 넘은 선종 없음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→ 기준선을 기본값으로 사용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12280" y="5751576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← N5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48640" y="6071616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48640" y="6126480"/>
            <a:ext cx="9966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8A9098"/>
                </a:solidFill>
                <a:latin typeface="Pretendard"/>
                <a:ea typeface="Pretendard"/>
                <a:cs typeface="Pretendard"/>
              </a:rPr>
              <a:t>한계: 외부지표 상관은 추세 공유(인과 아님) · 시장 국면은 연속된 세 시기 · 외부지표 발표 빈티지 미복원 → 11장 개선 계획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731520" y="777240"/>
            <a:ext cx="1072591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8680" y="9144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59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9811512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ko-KR" sz="2400" b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</a:rPr>
              <a:t>공개된 정보로 </a:t>
            </a:r>
            <a:r>
              <a:rPr lang="en-US" altLang="ko-KR" sz="2400" b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</a:rPr>
              <a:t>6</a:t>
            </a:r>
            <a:r>
              <a:rPr lang="ko-KR" altLang="ko-KR" sz="2400" b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</a:rPr>
              <a:t>개월 후 수주를 예측하고,</a:t>
            </a:r>
            <a:endParaRPr lang="en-US" altLang="ko-KR" sz="2400" b="1">
              <a:solidFill>
                <a:srgbClr val="111111"/>
              </a:solidFill>
              <a:latin typeface="Malgun Gothic" pitchFamily="34" charset="0"/>
              <a:ea typeface="Malgun Gothic" pitchFamily="34" charset="-122"/>
            </a:endParaRPr>
          </a:p>
          <a:p>
            <a:pPr algn="ctr"/>
            <a:r>
              <a:rPr lang="ko-KR" altLang="ko-KR" sz="2400" b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</a:rPr>
              <a:t>기준선 초과 여부를 확인합니다.</a:t>
            </a:r>
            <a:endParaRPr lang="en-US" altLang="ko-KR" sz="2400" b="1" dirty="0">
              <a:solidFill>
                <a:srgbClr val="111111"/>
              </a:solidFill>
              <a:latin typeface="Malgun Gothic" pitchFamily="34" charset="0"/>
              <a:ea typeface="Malgun Gothic" pitchFamily="34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1188720" y="3611880"/>
            <a:ext cx="3063240" cy="0"/>
          </a:xfrm>
          <a:prstGeom prst="line">
            <a:avLst/>
          </a:prstGeom>
          <a:ln w="254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88720" y="3749039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이미 확보한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160520"/>
            <a:ext cx="3063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마스터 테이블 141개월 · 변수 사전 60개</a:t>
            </a:r>
          </a:p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2026 독립 평가 · 컨테이너선 분기 12.5%</a:t>
            </a:r>
          </a:p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정합성 검토 · 예측 API · 3D 관제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26280" y="3611880"/>
            <a:ext cx="3063240" cy="0"/>
          </a:xfrm>
          <a:prstGeom prst="line">
            <a:avLst/>
          </a:prstGeom>
          <a:ln w="25400">
            <a:solidFill>
              <a:srgbClr val="296E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26280" y="3749039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296EF9"/>
                </a:solidFill>
                <a:latin typeface="Pretendard SemiBold"/>
                <a:ea typeface="Pretendard SemiBold"/>
                <a:cs typeface="Pretendard SemiBold"/>
              </a:rPr>
              <a:t>남은 기간에 할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4160520"/>
            <a:ext cx="3063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편향 보정 · 선종별 후보 모델 비교</a:t>
            </a:r>
          </a:p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WAPE 병기 · 추세 뺀 변수 선택</a:t>
            </a:r>
          </a:p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IP 배포 · 시연 영상 · 발표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63840" y="3611880"/>
            <a:ext cx="3063240" cy="0"/>
          </a:xfrm>
          <a:prstGeom prst="line">
            <a:avLst/>
          </a:prstGeom>
          <a:ln w="25400">
            <a:solidFill>
              <a:srgbClr val="4C5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863840" y="3749039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4C525A"/>
                </a:solidFill>
                <a:latin typeface="Pretendard SemiBold"/>
                <a:ea typeface="Pretendard SemiBold"/>
                <a:cs typeface="Pretendard SemiBold"/>
              </a:rPr>
              <a:t>한계로 밝힐 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160520"/>
            <a:ext cx="3063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전 선종 기준선 미달 · 동률</a:t>
            </a:r>
          </a:p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상승기 과소예측 · 피크 한계</a:t>
            </a:r>
          </a:p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변수 영향도는 인과 아님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0644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3조 선(船)견지명  |  근거 자료 Drive 'Ship orders forcasting' (scripts · data/catalog · reports) · GitHub ship-order-forecast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3559</Words>
  <Application>Microsoft Office PowerPoint</Application>
  <PresentationFormat>와이드스크린</PresentationFormat>
  <Paragraphs>662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5" baseType="lpstr">
      <vt:lpstr>Pretendard</vt:lpstr>
      <vt:lpstr>Pretendard Medium</vt:lpstr>
      <vt:lpstr>Pretendard SemiBold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miseong kim</cp:lastModifiedBy>
  <cp:revision>4</cp:revision>
  <dcterms:created xsi:type="dcterms:W3CDTF">2013-01-27T09:14:16Z</dcterms:created>
  <dcterms:modified xsi:type="dcterms:W3CDTF">2026-10-07T02:26:46Z</dcterms:modified>
  <cp:category/>
</cp:coreProperties>
</file>